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8" d="100"/>
          <a:sy n="48" d="100"/>
        </p:scale>
        <p:origin x="53" y="8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505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day, everyone. Today, we will present Iskolaria and its CI/CD pipeline. We will briefly explain the system architecture and technologies, then demonstrate how Jenkins tests, builds, and deploys code changes. We will also show how the pipeline handles a failed test, how data persists during redeployment, and how a previous image version can be restored.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Iskolaria is a scholarship-management system with a frontend for users and administrators and backend services that handle different responsibilities. The frontend provides the web interface. The authentication service handles identity and access, the scholarship API handles scholarship and eligibility-related operations, the application API handles application workflows, and the upload service validates and stores uploaded documents. A worker processes queued notification jobs.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runs as Docker containers coordinated by Docker Compose. Users access the website through the reverse proxy, which is the only published application port in the Compose configuration. The proxy routes requests to the frontend and the required backend services. The frontend-facing and backend networks separate service communication. PostgreSQL stores structured application data, Redis supports queued work, and named Docker volumes preserve database data and uploaded files across container replacement. This separation makes the services easier to deploy and maintain.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uses Docker and Docker Compose to package and run services consistently. Jenkins automates the pipeline. The frontend uses HTML, CSS, and JavaScript. The application API uses Node.js and Express, while the authentication, scholarship, upload, and worker services use Python-based components. PostgreSQL provides persistent relational storage, Redis supports queued notifications, and the reverse proxy exposes the application through a single entry point.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Jenkins pipeline has five main stages: Checkout, Test, Build Images, Deploy, and Smoke Test. Checkout retrieves the repository code. Test builds the test targets for the backend services and runs their automated checks. These tests cover authentication and token behavior, scholarship eligibility rules, application status transitions, upload file signatures and size limits, and notification-job validation. If a test fails, Jenkins stops before image building and deployment, leaving the previously running version in place. If tests pass, Docker images are built and deployed, and smoke tests check the proxy, health endpoints, and homepage. The pipeline tags images by build number so an earlier compatible version can be selected for rollback.</a:t>
            </a:r>
          </a:p>
          <a:p>
            <a:endParaRPr/>
          </a:p>
          <a:p>
            <a:r>
              <a:t>Transition: We have explained the main architecture and pipeline. We will now demonstrate the process live, beginning with Jenkins itself.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F37"/>
        </a:solidFill>
        <a:effectLst/>
      </p:bgPr>
    </p:bg>
    <p:spTree>
      <p:nvGrpSpPr>
        <p:cNvPr id="1" name=""/>
        <p:cNvGrpSpPr/>
        <p:nvPr/>
      </p:nvGrpSpPr>
      <p:grpSpPr>
        <a:xfrm>
          <a:off x="0" y="0"/>
          <a:ext cx="0" cy="0"/>
          <a:chOff x="0" y="0"/>
          <a:chExt cx="0" cy="0"/>
        </a:xfrm>
      </p:grpSpPr>
      <p:sp>
        <p:nvSpPr>
          <p:cNvPr id="8" name="TextBox 7"/>
          <p:cNvSpPr txBox="1"/>
          <p:nvPr/>
        </p:nvSpPr>
        <p:spPr>
          <a:xfrm>
            <a:off x="566928" y="1847088"/>
            <a:ext cx="8229600" cy="777240"/>
          </a:xfrm>
          <a:prstGeom prst="rect">
            <a:avLst/>
          </a:prstGeom>
          <a:noFill/>
        </p:spPr>
        <p:txBody>
          <a:bodyPr wrap="square" lIns="36576" tIns="18288" rIns="36576">
            <a:spAutoFit/>
          </a:bodyPr>
          <a:lstStyle/>
          <a:p>
            <a:pPr>
              <a:spcAft>
                <a:spcPts val="500"/>
              </a:spcAft>
              <a:defRPr sz="5400" b="1">
                <a:solidFill>
                  <a:srgbClr val="FFFFFF"/>
                </a:solidFill>
                <a:latin typeface="Aptos"/>
              </a:defRPr>
            </a:pPr>
            <a:r>
              <a:t>ISKOLARIA</a:t>
            </a:r>
          </a:p>
        </p:txBody>
      </p:sp>
      <p:sp>
        <p:nvSpPr>
          <p:cNvPr id="9" name="TextBox 8"/>
          <p:cNvSpPr txBox="1"/>
          <p:nvPr/>
        </p:nvSpPr>
        <p:spPr>
          <a:xfrm>
            <a:off x="594360" y="2743200"/>
            <a:ext cx="10058400" cy="834074"/>
          </a:xfrm>
          <a:prstGeom prst="rect">
            <a:avLst/>
          </a:prstGeom>
          <a:noFill/>
        </p:spPr>
        <p:txBody>
          <a:bodyPr wrap="square" lIns="36576" tIns="18288" rIns="36576">
            <a:spAutoFit/>
          </a:bodyPr>
          <a:lstStyle/>
          <a:p>
            <a:pPr>
              <a:spcAft>
                <a:spcPts val="500"/>
              </a:spcAft>
              <a:defRPr sz="2500" b="1">
                <a:solidFill>
                  <a:srgbClr val="26B1BE"/>
                </a:solidFill>
                <a:latin typeface="Aptos"/>
              </a:defRPr>
            </a:pPr>
            <a:r>
              <a:rPr lang="en-US" dirty="0"/>
              <a:t>A Containerized Scholarship Application System with Automated Docker and Jenkins CI/CD Pipeline</a:t>
            </a:r>
            <a:endParaRPr dirty="0"/>
          </a:p>
        </p:txBody>
      </p:sp>
      <p:sp>
        <p:nvSpPr>
          <p:cNvPr id="10" name="TextBox 9"/>
          <p:cNvSpPr txBox="1"/>
          <p:nvPr/>
        </p:nvSpPr>
        <p:spPr>
          <a:xfrm>
            <a:off x="638957" y="3700593"/>
            <a:ext cx="9144000" cy="357021"/>
          </a:xfrm>
          <a:prstGeom prst="rect">
            <a:avLst/>
          </a:prstGeom>
          <a:noFill/>
        </p:spPr>
        <p:txBody>
          <a:bodyPr wrap="square" lIns="36576" tIns="18288" rIns="36576">
            <a:spAutoFit/>
          </a:bodyPr>
          <a:lstStyle/>
          <a:p>
            <a:pPr>
              <a:spcAft>
                <a:spcPts val="500"/>
              </a:spcAft>
              <a:defRPr sz="1900" b="0">
                <a:solidFill>
                  <a:srgbClr val="E7F1F8"/>
                </a:solidFill>
                <a:latin typeface="Aptos"/>
              </a:defRPr>
            </a:pPr>
            <a:r>
              <a:rPr lang="en-US" dirty="0"/>
              <a:t>Cabral, Bea Mei  </a:t>
            </a:r>
            <a:r>
              <a:rPr dirty="0"/>
              <a:t>•  D</a:t>
            </a:r>
            <a:r>
              <a:rPr lang="en-US" dirty="0"/>
              <a:t>avid, Nigel James</a:t>
            </a:r>
            <a:r>
              <a:rPr dirty="0"/>
              <a:t>  </a:t>
            </a:r>
            <a:r>
              <a:rPr lang="en-PH" dirty="0"/>
              <a:t>•</a:t>
            </a:r>
            <a:r>
              <a:rPr lang="en-US" dirty="0"/>
              <a:t> Serrano, Bianca Gabrielle </a:t>
            </a:r>
            <a:r>
              <a:rPr lang="en-PH" dirty="0"/>
              <a:t>• Soriano, Den Mark</a:t>
            </a:r>
            <a:endParaRPr dirty="0"/>
          </a:p>
        </p:txBody>
      </p:sp>
      <p:sp>
        <p:nvSpPr>
          <p:cNvPr id="11" name="Rounded Rectangle 10"/>
          <p:cNvSpPr/>
          <p:nvPr/>
        </p:nvSpPr>
        <p:spPr>
          <a:xfrm>
            <a:off x="612648" y="4709160"/>
            <a:ext cx="10881360" cy="822960"/>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4956048"/>
            <a:ext cx="10241280" cy="387798"/>
          </a:xfrm>
          <a:prstGeom prst="rect">
            <a:avLst/>
          </a:prstGeom>
          <a:noFill/>
        </p:spPr>
        <p:txBody>
          <a:bodyPr wrap="square" lIns="36576" tIns="18288" rIns="36576">
            <a:spAutoFit/>
          </a:bodyPr>
          <a:lstStyle/>
          <a:p>
            <a:pPr>
              <a:spcAft>
                <a:spcPts val="500"/>
              </a:spcAft>
              <a:defRPr sz="2100" b="0">
                <a:solidFill>
                  <a:srgbClr val="FFFFFF"/>
                </a:solidFill>
                <a:latin typeface="Aptos"/>
              </a:defRPr>
            </a:pPr>
            <a:r>
              <a:rPr dirty="0"/>
              <a:t>Architecture </a:t>
            </a:r>
            <a:r>
              <a:rPr lang="en-US" dirty="0"/>
              <a:t>, Pipeline, and Demonstration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F37"/>
        </a:solidFill>
        <a:effectLst/>
      </p:bgPr>
    </p:bg>
    <p:spTree>
      <p:nvGrpSpPr>
        <p:cNvPr id="1" name=""/>
        <p:cNvGrpSpPr/>
        <p:nvPr/>
      </p:nvGrpSpPr>
      <p:grpSpPr>
        <a:xfrm>
          <a:off x="0" y="0"/>
          <a:ext cx="0" cy="0"/>
          <a:chOff x="0" y="0"/>
          <a:chExt cx="0" cy="0"/>
        </a:xfrm>
      </p:grpSpPr>
      <p:sp>
        <p:nvSpPr>
          <p:cNvPr id="4" name="TextBox 3"/>
          <p:cNvSpPr txBox="1"/>
          <p:nvPr/>
        </p:nvSpPr>
        <p:spPr>
          <a:xfrm>
            <a:off x="475488" y="804672"/>
            <a:ext cx="10972800" cy="914400"/>
          </a:xfrm>
          <a:prstGeom prst="rect">
            <a:avLst/>
          </a:prstGeom>
          <a:noFill/>
        </p:spPr>
        <p:txBody>
          <a:bodyPr wrap="square" lIns="36576" tIns="18288" rIns="36576">
            <a:spAutoFit/>
          </a:bodyPr>
          <a:lstStyle/>
          <a:p>
            <a:pPr>
              <a:spcAft>
                <a:spcPts val="500"/>
              </a:spcAft>
              <a:defRPr sz="3000" b="1">
                <a:solidFill>
                  <a:srgbClr val="FFFFFF"/>
                </a:solidFill>
                <a:latin typeface="Aptos"/>
              </a:defRPr>
            </a:pPr>
            <a:r>
              <a:t>System Overview &amp; Main Modules</a:t>
            </a:r>
          </a:p>
        </p:txBody>
      </p:sp>
      <p:sp>
        <p:nvSpPr>
          <p:cNvPr id="8" name="TextBox 7"/>
          <p:cNvSpPr txBox="1"/>
          <p:nvPr/>
        </p:nvSpPr>
        <p:spPr>
          <a:xfrm>
            <a:off x="475488" y="1339611"/>
            <a:ext cx="10972800" cy="341632"/>
          </a:xfrm>
          <a:prstGeom prst="rect">
            <a:avLst/>
          </a:prstGeom>
          <a:noFill/>
        </p:spPr>
        <p:txBody>
          <a:bodyPr wrap="square" lIns="36576" tIns="18288" rIns="36576">
            <a:spAutoFit/>
          </a:bodyPr>
          <a:lstStyle/>
          <a:p>
            <a:pPr>
              <a:spcAft>
                <a:spcPts val="500"/>
              </a:spcAft>
              <a:defRPr sz="1800" b="0">
                <a:solidFill>
                  <a:srgbClr val="E7F1F8"/>
                </a:solidFill>
                <a:latin typeface="Aptos"/>
              </a:defRPr>
            </a:pPr>
            <a:r>
              <a:rPr lang="en-US" dirty="0"/>
              <a:t>Students apply for scholarships and administrators review them.</a:t>
            </a:r>
            <a:endParaRPr dirty="0"/>
          </a:p>
        </p:txBody>
      </p:sp>
      <p:sp>
        <p:nvSpPr>
          <p:cNvPr id="9" name="Rounded Rectangle 8"/>
          <p:cNvSpPr/>
          <p:nvPr/>
        </p:nvSpPr>
        <p:spPr>
          <a:xfrm>
            <a:off x="521207" y="2327148"/>
            <a:ext cx="3611880" cy="1252728"/>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2473452"/>
            <a:ext cx="3246120" cy="365760"/>
          </a:xfrm>
          <a:prstGeom prst="rect">
            <a:avLst/>
          </a:prstGeom>
          <a:noFill/>
        </p:spPr>
        <p:txBody>
          <a:bodyPr wrap="square" lIns="36576" tIns="18288" rIns="36576">
            <a:spAutoFit/>
          </a:bodyPr>
          <a:lstStyle/>
          <a:p>
            <a:pPr>
              <a:spcAft>
                <a:spcPts val="500"/>
              </a:spcAft>
              <a:defRPr sz="1600" b="1">
                <a:solidFill>
                  <a:srgbClr val="FFFFFF"/>
                </a:solidFill>
                <a:latin typeface="Aptos"/>
              </a:defRPr>
            </a:pPr>
            <a:r>
              <a:t>Frontend</a:t>
            </a:r>
          </a:p>
        </p:txBody>
      </p:sp>
      <p:sp>
        <p:nvSpPr>
          <p:cNvPr id="12" name="TextBox 11"/>
          <p:cNvSpPr txBox="1"/>
          <p:nvPr/>
        </p:nvSpPr>
        <p:spPr>
          <a:xfrm>
            <a:off x="676656" y="2912364"/>
            <a:ext cx="3246120" cy="612648"/>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Student &amp; admin web interface</a:t>
            </a:r>
          </a:p>
        </p:txBody>
      </p:sp>
      <p:sp>
        <p:nvSpPr>
          <p:cNvPr id="13" name="Rounded Rectangle 12"/>
          <p:cNvSpPr/>
          <p:nvPr/>
        </p:nvSpPr>
        <p:spPr>
          <a:xfrm>
            <a:off x="4352544" y="2327148"/>
            <a:ext cx="3611880" cy="1252728"/>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35424" y="2473452"/>
            <a:ext cx="3246120" cy="365760"/>
          </a:xfrm>
          <a:prstGeom prst="rect">
            <a:avLst/>
          </a:prstGeom>
          <a:noFill/>
        </p:spPr>
        <p:txBody>
          <a:bodyPr wrap="square" lIns="36576" tIns="18288" rIns="36576">
            <a:spAutoFit/>
          </a:bodyPr>
          <a:lstStyle/>
          <a:p>
            <a:pPr>
              <a:spcAft>
                <a:spcPts val="500"/>
              </a:spcAft>
              <a:defRPr sz="1600" b="1">
                <a:solidFill>
                  <a:srgbClr val="FFFFFF"/>
                </a:solidFill>
                <a:latin typeface="Aptos"/>
              </a:defRPr>
            </a:pPr>
            <a:r>
              <a:t>Auth Service</a:t>
            </a:r>
          </a:p>
        </p:txBody>
      </p:sp>
      <p:sp>
        <p:nvSpPr>
          <p:cNvPr id="16" name="TextBox 15"/>
          <p:cNvSpPr txBox="1"/>
          <p:nvPr/>
        </p:nvSpPr>
        <p:spPr>
          <a:xfrm>
            <a:off x="4535424" y="2912364"/>
            <a:ext cx="3246120" cy="612648"/>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Registration, login and JWT</a:t>
            </a:r>
          </a:p>
        </p:txBody>
      </p:sp>
      <p:sp>
        <p:nvSpPr>
          <p:cNvPr id="17" name="Rounded Rectangle 16"/>
          <p:cNvSpPr/>
          <p:nvPr/>
        </p:nvSpPr>
        <p:spPr>
          <a:xfrm>
            <a:off x="8211312" y="2327148"/>
            <a:ext cx="3611880" cy="1252728"/>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4192" y="2473452"/>
            <a:ext cx="3246120" cy="365760"/>
          </a:xfrm>
          <a:prstGeom prst="rect">
            <a:avLst/>
          </a:prstGeom>
          <a:noFill/>
        </p:spPr>
        <p:txBody>
          <a:bodyPr wrap="square" lIns="36576" tIns="18288" rIns="36576">
            <a:spAutoFit/>
          </a:bodyPr>
          <a:lstStyle/>
          <a:p>
            <a:pPr>
              <a:spcAft>
                <a:spcPts val="500"/>
              </a:spcAft>
              <a:defRPr sz="1600" b="1">
                <a:solidFill>
                  <a:srgbClr val="FFFFFF"/>
                </a:solidFill>
                <a:latin typeface="Aptos"/>
              </a:defRPr>
            </a:pPr>
            <a:r>
              <a:t>Scholarship API</a:t>
            </a:r>
          </a:p>
        </p:txBody>
      </p:sp>
      <p:sp>
        <p:nvSpPr>
          <p:cNvPr id="20" name="TextBox 19"/>
          <p:cNvSpPr txBox="1"/>
          <p:nvPr/>
        </p:nvSpPr>
        <p:spPr>
          <a:xfrm>
            <a:off x="8394192" y="2912364"/>
            <a:ext cx="3246120" cy="612648"/>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Programs and eligibility checks</a:t>
            </a:r>
          </a:p>
        </p:txBody>
      </p:sp>
      <p:sp>
        <p:nvSpPr>
          <p:cNvPr id="21" name="Rounded Rectangle 20"/>
          <p:cNvSpPr/>
          <p:nvPr/>
        </p:nvSpPr>
        <p:spPr>
          <a:xfrm>
            <a:off x="521207" y="4224528"/>
            <a:ext cx="3611880" cy="1252728"/>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4370832"/>
            <a:ext cx="3246120" cy="365760"/>
          </a:xfrm>
          <a:prstGeom prst="rect">
            <a:avLst/>
          </a:prstGeom>
          <a:noFill/>
        </p:spPr>
        <p:txBody>
          <a:bodyPr wrap="square" lIns="36576" tIns="18288" rIns="36576">
            <a:spAutoFit/>
          </a:bodyPr>
          <a:lstStyle/>
          <a:p>
            <a:pPr>
              <a:spcAft>
                <a:spcPts val="500"/>
              </a:spcAft>
              <a:defRPr sz="1600" b="1">
                <a:solidFill>
                  <a:srgbClr val="FFFFFF"/>
                </a:solidFill>
                <a:latin typeface="Aptos"/>
              </a:defRPr>
            </a:pPr>
            <a:r>
              <a:t>Application API</a:t>
            </a:r>
          </a:p>
        </p:txBody>
      </p:sp>
      <p:sp>
        <p:nvSpPr>
          <p:cNvPr id="24" name="TextBox 23"/>
          <p:cNvSpPr txBox="1"/>
          <p:nvPr/>
        </p:nvSpPr>
        <p:spPr>
          <a:xfrm>
            <a:off x="704088" y="4809744"/>
            <a:ext cx="3246120" cy="612648"/>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Submission and review workflow</a:t>
            </a:r>
          </a:p>
        </p:txBody>
      </p:sp>
      <p:sp>
        <p:nvSpPr>
          <p:cNvPr id="25" name="Rounded Rectangle 24"/>
          <p:cNvSpPr/>
          <p:nvPr/>
        </p:nvSpPr>
        <p:spPr>
          <a:xfrm>
            <a:off x="4379976" y="4224528"/>
            <a:ext cx="3611880" cy="1252728"/>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62856" y="4370832"/>
            <a:ext cx="3246120" cy="365760"/>
          </a:xfrm>
          <a:prstGeom prst="rect">
            <a:avLst/>
          </a:prstGeom>
          <a:noFill/>
        </p:spPr>
        <p:txBody>
          <a:bodyPr wrap="square" lIns="36576" tIns="18288" rIns="36576">
            <a:spAutoFit/>
          </a:bodyPr>
          <a:lstStyle/>
          <a:p>
            <a:pPr>
              <a:spcAft>
                <a:spcPts val="500"/>
              </a:spcAft>
              <a:defRPr sz="1600" b="1">
                <a:solidFill>
                  <a:srgbClr val="FFFFFF"/>
                </a:solidFill>
                <a:latin typeface="Aptos"/>
              </a:defRPr>
            </a:pPr>
            <a:r>
              <a:t>Upload Service</a:t>
            </a:r>
          </a:p>
        </p:txBody>
      </p:sp>
      <p:sp>
        <p:nvSpPr>
          <p:cNvPr id="28" name="TextBox 27"/>
          <p:cNvSpPr txBox="1"/>
          <p:nvPr/>
        </p:nvSpPr>
        <p:spPr>
          <a:xfrm>
            <a:off x="4562856" y="4809744"/>
            <a:ext cx="3246120" cy="612648"/>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Document validation and storage</a:t>
            </a:r>
          </a:p>
        </p:txBody>
      </p:sp>
      <p:sp>
        <p:nvSpPr>
          <p:cNvPr id="29" name="Rounded Rectangle 28"/>
          <p:cNvSpPr/>
          <p:nvPr/>
        </p:nvSpPr>
        <p:spPr>
          <a:xfrm>
            <a:off x="8238744" y="4224528"/>
            <a:ext cx="3611880" cy="1252728"/>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21624" y="4370832"/>
            <a:ext cx="3246120" cy="365760"/>
          </a:xfrm>
          <a:prstGeom prst="rect">
            <a:avLst/>
          </a:prstGeom>
          <a:noFill/>
        </p:spPr>
        <p:txBody>
          <a:bodyPr wrap="square" lIns="36576" tIns="18288" rIns="36576">
            <a:spAutoFit/>
          </a:bodyPr>
          <a:lstStyle/>
          <a:p>
            <a:pPr>
              <a:spcAft>
                <a:spcPts val="500"/>
              </a:spcAft>
              <a:defRPr sz="1600" b="1">
                <a:solidFill>
                  <a:srgbClr val="FFFFFF"/>
                </a:solidFill>
                <a:latin typeface="Aptos"/>
              </a:defRPr>
            </a:pPr>
            <a:r>
              <a:t>Worker</a:t>
            </a:r>
          </a:p>
        </p:txBody>
      </p:sp>
      <p:sp>
        <p:nvSpPr>
          <p:cNvPr id="32" name="TextBox 31"/>
          <p:cNvSpPr txBox="1"/>
          <p:nvPr/>
        </p:nvSpPr>
        <p:spPr>
          <a:xfrm>
            <a:off x="8421624" y="4809744"/>
            <a:ext cx="3246120" cy="612648"/>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Queued notifications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F37"/>
        </a:solidFill>
        <a:effectLst/>
      </p:bgPr>
    </p:bg>
    <p:spTree>
      <p:nvGrpSpPr>
        <p:cNvPr id="1" name=""/>
        <p:cNvGrpSpPr/>
        <p:nvPr/>
      </p:nvGrpSpPr>
      <p:grpSpPr>
        <a:xfrm>
          <a:off x="0" y="0"/>
          <a:ext cx="0" cy="0"/>
          <a:chOff x="0" y="0"/>
          <a:chExt cx="0" cy="0"/>
        </a:xfrm>
      </p:grpSpPr>
      <p:sp>
        <p:nvSpPr>
          <p:cNvPr id="4" name="TextBox 3"/>
          <p:cNvSpPr txBox="1"/>
          <p:nvPr/>
        </p:nvSpPr>
        <p:spPr>
          <a:xfrm>
            <a:off x="475488" y="487600"/>
            <a:ext cx="10972800" cy="914400"/>
          </a:xfrm>
          <a:prstGeom prst="rect">
            <a:avLst/>
          </a:prstGeom>
          <a:noFill/>
        </p:spPr>
        <p:txBody>
          <a:bodyPr wrap="square" lIns="36576" tIns="18288" rIns="36576">
            <a:spAutoFit/>
          </a:bodyPr>
          <a:lstStyle/>
          <a:p>
            <a:pPr>
              <a:spcAft>
                <a:spcPts val="500"/>
              </a:spcAft>
              <a:defRPr sz="3000" b="1">
                <a:solidFill>
                  <a:srgbClr val="FFFFFF"/>
                </a:solidFill>
                <a:latin typeface="Aptos"/>
              </a:defRPr>
            </a:pPr>
            <a:r>
              <a:rPr dirty="0"/>
              <a:t>Architecture, Networks &amp; Volumes</a:t>
            </a:r>
          </a:p>
        </p:txBody>
      </p:sp>
      <p:pic>
        <p:nvPicPr>
          <p:cNvPr id="20" name="Picture 19">
            <a:extLst>
              <a:ext uri="{FF2B5EF4-FFF2-40B4-BE49-F238E27FC236}">
                <a16:creationId xmlns:a16="http://schemas.microsoft.com/office/drawing/2014/main" id="{8DDF306E-4145-88B7-7C9B-DFE46C3900B8}"/>
              </a:ext>
            </a:extLst>
          </p:cNvPr>
          <p:cNvPicPr>
            <a:picLocks noChangeAspect="1"/>
          </p:cNvPicPr>
          <p:nvPr/>
        </p:nvPicPr>
        <p:blipFill>
          <a:blip r:embed="rId3"/>
          <a:stretch>
            <a:fillRect/>
          </a:stretch>
        </p:blipFill>
        <p:spPr>
          <a:xfrm>
            <a:off x="551160" y="1261872"/>
            <a:ext cx="8111575" cy="5111095"/>
          </a:xfrm>
          <a:prstGeom prst="rect">
            <a:avLst/>
          </a:prstGeom>
        </p:spPr>
      </p:pic>
      <p:sp>
        <p:nvSpPr>
          <p:cNvPr id="24" name="Rounded Rectangle 12">
            <a:extLst>
              <a:ext uri="{FF2B5EF4-FFF2-40B4-BE49-F238E27FC236}">
                <a16:creationId xmlns:a16="http://schemas.microsoft.com/office/drawing/2014/main" id="{C6A9F074-8CEF-7B8D-9DEA-6CC82172C8F6}"/>
              </a:ext>
            </a:extLst>
          </p:cNvPr>
          <p:cNvSpPr/>
          <p:nvPr/>
        </p:nvSpPr>
        <p:spPr>
          <a:xfrm>
            <a:off x="8855287" y="3091634"/>
            <a:ext cx="2951702" cy="914400"/>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12">
            <a:extLst>
              <a:ext uri="{FF2B5EF4-FFF2-40B4-BE49-F238E27FC236}">
                <a16:creationId xmlns:a16="http://schemas.microsoft.com/office/drawing/2014/main" id="{800742F0-0A32-D95F-7C9B-0B0346E5508C}"/>
              </a:ext>
            </a:extLst>
          </p:cNvPr>
          <p:cNvSpPr/>
          <p:nvPr/>
        </p:nvSpPr>
        <p:spPr>
          <a:xfrm>
            <a:off x="8855287" y="4158434"/>
            <a:ext cx="2951702" cy="914400"/>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12">
            <a:extLst>
              <a:ext uri="{FF2B5EF4-FFF2-40B4-BE49-F238E27FC236}">
                <a16:creationId xmlns:a16="http://schemas.microsoft.com/office/drawing/2014/main" id="{615589DD-455E-3FFB-D636-2E1988140D4C}"/>
              </a:ext>
            </a:extLst>
          </p:cNvPr>
          <p:cNvSpPr/>
          <p:nvPr/>
        </p:nvSpPr>
        <p:spPr>
          <a:xfrm>
            <a:off x="8855287" y="5244805"/>
            <a:ext cx="2951702" cy="1128162"/>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C2C965C1-FF3E-03E2-4613-8E9F578B4DD9}"/>
              </a:ext>
            </a:extLst>
          </p:cNvPr>
          <p:cNvSpPr txBox="1"/>
          <p:nvPr/>
        </p:nvSpPr>
        <p:spPr>
          <a:xfrm>
            <a:off x="9100252" y="3166446"/>
            <a:ext cx="2540588" cy="3203954"/>
          </a:xfrm>
          <a:prstGeom prst="rect">
            <a:avLst/>
          </a:prstGeom>
          <a:noFill/>
        </p:spPr>
        <p:txBody>
          <a:bodyPr wrap="square" lIns="36576" tIns="18288" rIns="36576">
            <a:spAutoFit/>
          </a:bodyPr>
          <a:lstStyle/>
          <a:p>
            <a:pPr>
              <a:spcAft>
                <a:spcPts val="500"/>
              </a:spcAft>
              <a:defRPr sz="1700" b="0">
                <a:solidFill>
                  <a:srgbClr val="E7F1F8"/>
                </a:solidFill>
                <a:latin typeface="Aptos"/>
              </a:defRPr>
            </a:pPr>
            <a:r>
              <a:rPr lang="en-US" dirty="0"/>
              <a:t>Three Callouts around it: Only the reverse proxy is published (port 8080).</a:t>
            </a:r>
            <a:br>
              <a:rPr lang="en-US" dirty="0"/>
            </a:br>
            <a:br>
              <a:rPr lang="en-US" dirty="0"/>
            </a:br>
            <a:r>
              <a:rPr lang="en-US" dirty="0"/>
              <a:t>Frontend-net and backend-net separate the services.</a:t>
            </a:r>
            <a:br>
              <a:rPr lang="en-US" dirty="0"/>
            </a:br>
            <a:br>
              <a:rPr lang="en-US" dirty="0"/>
            </a:br>
            <a:r>
              <a:rPr lang="en-US" dirty="0"/>
              <a:t>Named volumes </a:t>
            </a:r>
            <a:r>
              <a:rPr lang="en-US" dirty="0" err="1"/>
              <a:t>pg</a:t>
            </a:r>
            <a:r>
              <a:rPr lang="en-US" dirty="0"/>
              <a:t>-data and uploads-data preserve data across redeploys.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F37"/>
        </a:solidFill>
        <a:effectLst/>
      </p:bgPr>
    </p:bg>
    <p:spTree>
      <p:nvGrpSpPr>
        <p:cNvPr id="1" name=""/>
        <p:cNvGrpSpPr/>
        <p:nvPr/>
      </p:nvGrpSpPr>
      <p:grpSpPr>
        <a:xfrm>
          <a:off x="0" y="0"/>
          <a:ext cx="0" cy="0"/>
          <a:chOff x="0" y="0"/>
          <a:chExt cx="0" cy="0"/>
        </a:xfrm>
      </p:grpSpPr>
      <p:sp>
        <p:nvSpPr>
          <p:cNvPr id="4" name="TextBox 3"/>
          <p:cNvSpPr txBox="1"/>
          <p:nvPr/>
        </p:nvSpPr>
        <p:spPr>
          <a:xfrm>
            <a:off x="475488" y="804672"/>
            <a:ext cx="10972800" cy="914400"/>
          </a:xfrm>
          <a:prstGeom prst="rect">
            <a:avLst/>
          </a:prstGeom>
          <a:noFill/>
        </p:spPr>
        <p:txBody>
          <a:bodyPr wrap="square" lIns="36576" tIns="18288" rIns="36576">
            <a:spAutoFit/>
          </a:bodyPr>
          <a:lstStyle/>
          <a:p>
            <a:pPr>
              <a:spcAft>
                <a:spcPts val="500"/>
              </a:spcAft>
              <a:defRPr sz="3000" b="1">
                <a:solidFill>
                  <a:srgbClr val="FFFFFF"/>
                </a:solidFill>
                <a:latin typeface="Aptos"/>
              </a:defRPr>
            </a:pPr>
            <a:r>
              <a:t>Technology Choices</a:t>
            </a:r>
          </a:p>
        </p:txBody>
      </p:sp>
      <p:sp>
        <p:nvSpPr>
          <p:cNvPr id="8" name="Rounded Rectangle 7"/>
          <p:cNvSpPr/>
          <p:nvPr/>
        </p:nvSpPr>
        <p:spPr>
          <a:xfrm>
            <a:off x="566928" y="1847088"/>
            <a:ext cx="5458968" cy="896112"/>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993392"/>
            <a:ext cx="5093207" cy="365760"/>
          </a:xfrm>
          <a:prstGeom prst="rect">
            <a:avLst/>
          </a:prstGeom>
          <a:noFill/>
        </p:spPr>
        <p:txBody>
          <a:bodyPr wrap="square" lIns="36576" tIns="18288" rIns="36576">
            <a:spAutoFit/>
          </a:bodyPr>
          <a:lstStyle/>
          <a:p>
            <a:pPr>
              <a:spcAft>
                <a:spcPts val="500"/>
              </a:spcAft>
              <a:defRPr sz="1500" b="1">
                <a:solidFill>
                  <a:srgbClr val="FFFFFF"/>
                </a:solidFill>
                <a:latin typeface="Aptos"/>
              </a:defRPr>
            </a:pPr>
            <a:r>
              <a:t>Docker + Compose</a:t>
            </a:r>
          </a:p>
        </p:txBody>
      </p:sp>
      <p:sp>
        <p:nvSpPr>
          <p:cNvPr id="11" name="TextBox 10"/>
          <p:cNvSpPr txBox="1"/>
          <p:nvPr/>
        </p:nvSpPr>
        <p:spPr>
          <a:xfrm>
            <a:off x="749808" y="2432304"/>
            <a:ext cx="5093207" cy="256032"/>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Container packaging and orchestration</a:t>
            </a:r>
          </a:p>
        </p:txBody>
      </p:sp>
      <p:sp>
        <p:nvSpPr>
          <p:cNvPr id="12" name="Rounded Rectangle 11"/>
          <p:cNvSpPr/>
          <p:nvPr/>
        </p:nvSpPr>
        <p:spPr>
          <a:xfrm>
            <a:off x="6263640" y="1847088"/>
            <a:ext cx="5458968" cy="896112"/>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993392"/>
            <a:ext cx="5093207" cy="365760"/>
          </a:xfrm>
          <a:prstGeom prst="rect">
            <a:avLst/>
          </a:prstGeom>
          <a:noFill/>
        </p:spPr>
        <p:txBody>
          <a:bodyPr wrap="square" lIns="36576" tIns="18288" rIns="36576">
            <a:spAutoFit/>
          </a:bodyPr>
          <a:lstStyle/>
          <a:p>
            <a:pPr>
              <a:spcAft>
                <a:spcPts val="500"/>
              </a:spcAft>
              <a:defRPr sz="1500" b="1">
                <a:solidFill>
                  <a:srgbClr val="FFFFFF"/>
                </a:solidFill>
                <a:latin typeface="Aptos"/>
              </a:defRPr>
            </a:pPr>
            <a:r>
              <a:t>Jenkins</a:t>
            </a:r>
          </a:p>
        </p:txBody>
      </p:sp>
      <p:sp>
        <p:nvSpPr>
          <p:cNvPr id="15" name="TextBox 14"/>
          <p:cNvSpPr txBox="1"/>
          <p:nvPr/>
        </p:nvSpPr>
        <p:spPr>
          <a:xfrm>
            <a:off x="6446520" y="2432304"/>
            <a:ext cx="5093207" cy="256032"/>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Automated CI/CD pipeline</a:t>
            </a:r>
          </a:p>
        </p:txBody>
      </p:sp>
      <p:sp>
        <p:nvSpPr>
          <p:cNvPr id="16" name="Rounded Rectangle 15"/>
          <p:cNvSpPr/>
          <p:nvPr/>
        </p:nvSpPr>
        <p:spPr>
          <a:xfrm>
            <a:off x="566928" y="2862072"/>
            <a:ext cx="5458968" cy="896112"/>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008376"/>
            <a:ext cx="5093207" cy="365760"/>
          </a:xfrm>
          <a:prstGeom prst="rect">
            <a:avLst/>
          </a:prstGeom>
          <a:noFill/>
        </p:spPr>
        <p:txBody>
          <a:bodyPr wrap="square" lIns="36576" tIns="18288" rIns="36576">
            <a:spAutoFit/>
          </a:bodyPr>
          <a:lstStyle/>
          <a:p>
            <a:pPr>
              <a:spcAft>
                <a:spcPts val="500"/>
              </a:spcAft>
              <a:defRPr sz="1500" b="1">
                <a:solidFill>
                  <a:srgbClr val="FFFFFF"/>
                </a:solidFill>
                <a:latin typeface="Aptos"/>
              </a:defRPr>
            </a:pPr>
            <a:r>
              <a:t>HTML / CSS / JS</a:t>
            </a:r>
          </a:p>
        </p:txBody>
      </p:sp>
      <p:sp>
        <p:nvSpPr>
          <p:cNvPr id="19" name="TextBox 18"/>
          <p:cNvSpPr txBox="1"/>
          <p:nvPr/>
        </p:nvSpPr>
        <p:spPr>
          <a:xfrm>
            <a:off x="749808" y="3447288"/>
            <a:ext cx="5093207" cy="256032"/>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Lightweight static frontend</a:t>
            </a:r>
          </a:p>
        </p:txBody>
      </p:sp>
      <p:sp>
        <p:nvSpPr>
          <p:cNvPr id="20" name="Rounded Rectangle 19"/>
          <p:cNvSpPr/>
          <p:nvPr/>
        </p:nvSpPr>
        <p:spPr>
          <a:xfrm>
            <a:off x="6263640" y="2862072"/>
            <a:ext cx="5458968" cy="896112"/>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3008376"/>
            <a:ext cx="5093207" cy="365760"/>
          </a:xfrm>
          <a:prstGeom prst="rect">
            <a:avLst/>
          </a:prstGeom>
          <a:noFill/>
        </p:spPr>
        <p:txBody>
          <a:bodyPr wrap="square" lIns="36576" tIns="18288" rIns="36576">
            <a:spAutoFit/>
          </a:bodyPr>
          <a:lstStyle/>
          <a:p>
            <a:pPr>
              <a:spcAft>
                <a:spcPts val="500"/>
              </a:spcAft>
              <a:defRPr sz="1500" b="1">
                <a:solidFill>
                  <a:srgbClr val="FFFFFF"/>
                </a:solidFill>
                <a:latin typeface="Aptos"/>
              </a:defRPr>
            </a:pPr>
            <a:r>
              <a:t>Node.js + Express</a:t>
            </a:r>
          </a:p>
        </p:txBody>
      </p:sp>
      <p:sp>
        <p:nvSpPr>
          <p:cNvPr id="23" name="TextBox 22"/>
          <p:cNvSpPr txBox="1"/>
          <p:nvPr/>
        </p:nvSpPr>
        <p:spPr>
          <a:xfrm>
            <a:off x="6446520" y="3447288"/>
            <a:ext cx="5093207" cy="256032"/>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Application workflow API</a:t>
            </a:r>
          </a:p>
        </p:txBody>
      </p:sp>
      <p:sp>
        <p:nvSpPr>
          <p:cNvPr id="24" name="Rounded Rectangle 23"/>
          <p:cNvSpPr/>
          <p:nvPr/>
        </p:nvSpPr>
        <p:spPr>
          <a:xfrm>
            <a:off x="566928" y="3877056"/>
            <a:ext cx="5458968" cy="896112"/>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4023360"/>
            <a:ext cx="5093207" cy="365760"/>
          </a:xfrm>
          <a:prstGeom prst="rect">
            <a:avLst/>
          </a:prstGeom>
          <a:noFill/>
        </p:spPr>
        <p:txBody>
          <a:bodyPr wrap="square" lIns="36576" tIns="18288" rIns="36576">
            <a:spAutoFit/>
          </a:bodyPr>
          <a:lstStyle/>
          <a:p>
            <a:pPr>
              <a:spcAft>
                <a:spcPts val="500"/>
              </a:spcAft>
              <a:defRPr sz="1500" b="1">
                <a:solidFill>
                  <a:srgbClr val="FFFFFF"/>
                </a:solidFill>
                <a:latin typeface="Aptos"/>
              </a:defRPr>
            </a:pPr>
            <a:r>
              <a:t>Python + FastAPI</a:t>
            </a:r>
          </a:p>
        </p:txBody>
      </p:sp>
      <p:sp>
        <p:nvSpPr>
          <p:cNvPr id="27" name="TextBox 26"/>
          <p:cNvSpPr txBox="1"/>
          <p:nvPr/>
        </p:nvSpPr>
        <p:spPr>
          <a:xfrm>
            <a:off x="749808" y="4462272"/>
            <a:ext cx="5093207" cy="256032"/>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Auth, scholarship and upload APIs</a:t>
            </a:r>
          </a:p>
        </p:txBody>
      </p:sp>
      <p:sp>
        <p:nvSpPr>
          <p:cNvPr id="28" name="Rounded Rectangle 27"/>
          <p:cNvSpPr/>
          <p:nvPr/>
        </p:nvSpPr>
        <p:spPr>
          <a:xfrm>
            <a:off x="6263640" y="3877056"/>
            <a:ext cx="5458968" cy="896112"/>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46520" y="4023360"/>
            <a:ext cx="5093207" cy="365760"/>
          </a:xfrm>
          <a:prstGeom prst="rect">
            <a:avLst/>
          </a:prstGeom>
          <a:noFill/>
        </p:spPr>
        <p:txBody>
          <a:bodyPr wrap="square" lIns="36576" tIns="18288" rIns="36576">
            <a:spAutoFit/>
          </a:bodyPr>
          <a:lstStyle/>
          <a:p>
            <a:pPr>
              <a:spcAft>
                <a:spcPts val="500"/>
              </a:spcAft>
              <a:defRPr sz="1500" b="1">
                <a:solidFill>
                  <a:srgbClr val="FFFFFF"/>
                </a:solidFill>
                <a:latin typeface="Aptos"/>
              </a:defRPr>
            </a:pPr>
            <a:r>
              <a:t>PostgreSQL + Redis</a:t>
            </a:r>
          </a:p>
        </p:txBody>
      </p:sp>
      <p:sp>
        <p:nvSpPr>
          <p:cNvPr id="31" name="TextBox 30"/>
          <p:cNvSpPr txBox="1"/>
          <p:nvPr/>
        </p:nvSpPr>
        <p:spPr>
          <a:xfrm>
            <a:off x="6446520" y="4462272"/>
            <a:ext cx="5093207" cy="256032"/>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Relational storage and notification queue</a:t>
            </a:r>
          </a:p>
        </p:txBody>
      </p:sp>
      <p:sp>
        <p:nvSpPr>
          <p:cNvPr id="32" name="Rounded Rectangle 31"/>
          <p:cNvSpPr/>
          <p:nvPr/>
        </p:nvSpPr>
        <p:spPr>
          <a:xfrm>
            <a:off x="566928" y="4892040"/>
            <a:ext cx="5458968" cy="896112"/>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9808" y="5038344"/>
            <a:ext cx="5093207" cy="365760"/>
          </a:xfrm>
          <a:prstGeom prst="rect">
            <a:avLst/>
          </a:prstGeom>
          <a:noFill/>
        </p:spPr>
        <p:txBody>
          <a:bodyPr wrap="square" lIns="36576" tIns="18288" rIns="36576">
            <a:spAutoFit/>
          </a:bodyPr>
          <a:lstStyle/>
          <a:p>
            <a:pPr>
              <a:spcAft>
                <a:spcPts val="500"/>
              </a:spcAft>
              <a:defRPr sz="1500" b="1">
                <a:solidFill>
                  <a:srgbClr val="FFFFFF"/>
                </a:solidFill>
                <a:latin typeface="Aptos"/>
              </a:defRPr>
            </a:pPr>
            <a:r>
              <a:t>Nginx</a:t>
            </a:r>
          </a:p>
        </p:txBody>
      </p:sp>
      <p:sp>
        <p:nvSpPr>
          <p:cNvPr id="35" name="TextBox 34"/>
          <p:cNvSpPr txBox="1"/>
          <p:nvPr/>
        </p:nvSpPr>
        <p:spPr>
          <a:xfrm>
            <a:off x="749808" y="5477255"/>
            <a:ext cx="5093207" cy="256032"/>
          </a:xfrm>
          <a:prstGeom prst="rect">
            <a:avLst/>
          </a:prstGeom>
          <a:noFill/>
        </p:spPr>
        <p:txBody>
          <a:bodyPr wrap="square" lIns="36576" tIns="18288" rIns="36576">
            <a:spAutoFit/>
          </a:bodyPr>
          <a:lstStyle/>
          <a:p>
            <a:pPr>
              <a:spcAft>
                <a:spcPts val="500"/>
              </a:spcAft>
              <a:defRPr sz="1300" b="0">
                <a:solidFill>
                  <a:srgbClr val="E7F1F8"/>
                </a:solidFill>
                <a:latin typeface="Aptos"/>
              </a:defRPr>
            </a:pPr>
            <a:r>
              <a:t>Single reverse-proxy entry point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F37"/>
        </a:solidFill>
        <a:effectLst/>
      </p:bgPr>
    </p:bg>
    <p:spTree>
      <p:nvGrpSpPr>
        <p:cNvPr id="1" name=""/>
        <p:cNvGrpSpPr/>
        <p:nvPr/>
      </p:nvGrpSpPr>
      <p:grpSpPr>
        <a:xfrm>
          <a:off x="0" y="0"/>
          <a:ext cx="0" cy="0"/>
          <a:chOff x="0" y="0"/>
          <a:chExt cx="0" cy="0"/>
        </a:xfrm>
      </p:grpSpPr>
      <p:sp>
        <p:nvSpPr>
          <p:cNvPr id="4" name="TextBox 3"/>
          <p:cNvSpPr txBox="1"/>
          <p:nvPr/>
        </p:nvSpPr>
        <p:spPr>
          <a:xfrm>
            <a:off x="475488" y="804672"/>
            <a:ext cx="10972800" cy="914400"/>
          </a:xfrm>
          <a:prstGeom prst="rect">
            <a:avLst/>
          </a:prstGeom>
          <a:noFill/>
        </p:spPr>
        <p:txBody>
          <a:bodyPr wrap="square" lIns="36576" tIns="18288" rIns="36576">
            <a:spAutoFit/>
          </a:bodyPr>
          <a:lstStyle/>
          <a:p>
            <a:pPr>
              <a:spcAft>
                <a:spcPts val="500"/>
              </a:spcAft>
              <a:defRPr sz="3000" b="1">
                <a:solidFill>
                  <a:srgbClr val="FFFFFF"/>
                </a:solidFill>
                <a:latin typeface="Aptos"/>
              </a:defRPr>
            </a:pPr>
            <a:r>
              <a:t>Jenkins Pipeline &amp; Testing Strategy</a:t>
            </a:r>
          </a:p>
        </p:txBody>
      </p:sp>
      <p:sp>
        <p:nvSpPr>
          <p:cNvPr id="8" name="Rounded Rectangle 7"/>
          <p:cNvSpPr/>
          <p:nvPr/>
        </p:nvSpPr>
        <p:spPr>
          <a:xfrm>
            <a:off x="530352" y="1993392"/>
            <a:ext cx="2157984" cy="969264"/>
          </a:xfrm>
          <a:prstGeom prst="roundRect">
            <a:avLst/>
          </a:prstGeom>
          <a:solidFill>
            <a:srgbClr val="23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 y="2103120"/>
            <a:ext cx="457200" cy="320040"/>
          </a:xfrm>
          <a:prstGeom prst="rect">
            <a:avLst/>
          </a:prstGeom>
          <a:noFill/>
        </p:spPr>
        <p:txBody>
          <a:bodyPr wrap="square" lIns="36576" tIns="18288" rIns="36576">
            <a:spAutoFit/>
          </a:bodyPr>
          <a:lstStyle/>
          <a:p>
            <a:pPr>
              <a:spcAft>
                <a:spcPts val="500"/>
              </a:spcAft>
              <a:defRPr sz="1400" b="1">
                <a:solidFill>
                  <a:srgbClr val="F6BD52"/>
                </a:solidFill>
                <a:latin typeface="Aptos"/>
              </a:defRPr>
            </a:pPr>
            <a:r>
              <a:t>01</a:t>
            </a:r>
          </a:p>
        </p:txBody>
      </p:sp>
      <p:sp>
        <p:nvSpPr>
          <p:cNvPr id="10" name="TextBox 9"/>
          <p:cNvSpPr txBox="1"/>
          <p:nvPr/>
        </p:nvSpPr>
        <p:spPr>
          <a:xfrm>
            <a:off x="667512" y="2505456"/>
            <a:ext cx="1901952" cy="283464"/>
          </a:xfrm>
          <a:prstGeom prst="rect">
            <a:avLst/>
          </a:prstGeom>
          <a:noFill/>
        </p:spPr>
        <p:txBody>
          <a:bodyPr wrap="square" lIns="36576" tIns="18288" rIns="36576">
            <a:spAutoFit/>
          </a:bodyPr>
          <a:lstStyle/>
          <a:p>
            <a:pPr>
              <a:spcAft>
                <a:spcPts val="500"/>
              </a:spcAft>
              <a:defRPr sz="1400" b="1">
                <a:solidFill>
                  <a:srgbClr val="FFFFFF"/>
                </a:solidFill>
                <a:latin typeface="Aptos"/>
              </a:defRPr>
            </a:pPr>
            <a:r>
              <a:t>CHECKOUT</a:t>
            </a:r>
          </a:p>
        </p:txBody>
      </p:sp>
      <p:sp>
        <p:nvSpPr>
          <p:cNvPr id="11" name="TextBox 10"/>
          <p:cNvSpPr txBox="1"/>
          <p:nvPr/>
        </p:nvSpPr>
        <p:spPr>
          <a:xfrm>
            <a:off x="2670048" y="2304288"/>
            <a:ext cx="219456" cy="365760"/>
          </a:xfrm>
          <a:prstGeom prst="rect">
            <a:avLst/>
          </a:prstGeom>
          <a:noFill/>
        </p:spPr>
        <p:txBody>
          <a:bodyPr wrap="square" lIns="36576" tIns="18288" rIns="36576">
            <a:spAutoFit/>
          </a:bodyPr>
          <a:lstStyle/>
          <a:p>
            <a:pPr>
              <a:spcAft>
                <a:spcPts val="500"/>
              </a:spcAft>
              <a:defRPr sz="2000" b="1">
                <a:solidFill>
                  <a:srgbClr val="26B1BE"/>
                </a:solidFill>
                <a:latin typeface="Aptos"/>
              </a:defRPr>
            </a:pPr>
            <a:r>
              <a:t>→</a:t>
            </a:r>
          </a:p>
        </p:txBody>
      </p:sp>
      <p:sp>
        <p:nvSpPr>
          <p:cNvPr id="12" name="Rounded Rectangle 11"/>
          <p:cNvSpPr/>
          <p:nvPr/>
        </p:nvSpPr>
        <p:spPr>
          <a:xfrm>
            <a:off x="2871216" y="1993392"/>
            <a:ext cx="2157984" cy="969264"/>
          </a:xfrm>
          <a:prstGeom prst="roundRect">
            <a:avLst/>
          </a:prstGeom>
          <a:solidFill>
            <a:srgbClr val="11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90088" y="2103120"/>
            <a:ext cx="457200" cy="320040"/>
          </a:xfrm>
          <a:prstGeom prst="rect">
            <a:avLst/>
          </a:prstGeom>
          <a:noFill/>
        </p:spPr>
        <p:txBody>
          <a:bodyPr wrap="square" lIns="36576" tIns="18288" rIns="36576">
            <a:spAutoFit/>
          </a:bodyPr>
          <a:lstStyle/>
          <a:p>
            <a:pPr>
              <a:spcAft>
                <a:spcPts val="500"/>
              </a:spcAft>
              <a:defRPr sz="1400" b="1">
                <a:solidFill>
                  <a:srgbClr val="F6BD52"/>
                </a:solidFill>
                <a:latin typeface="Aptos"/>
              </a:defRPr>
            </a:pPr>
            <a:r>
              <a:t>02</a:t>
            </a:r>
          </a:p>
        </p:txBody>
      </p:sp>
      <p:sp>
        <p:nvSpPr>
          <p:cNvPr id="14" name="TextBox 13"/>
          <p:cNvSpPr txBox="1"/>
          <p:nvPr/>
        </p:nvSpPr>
        <p:spPr>
          <a:xfrm>
            <a:off x="3008376" y="2505456"/>
            <a:ext cx="1901952" cy="283464"/>
          </a:xfrm>
          <a:prstGeom prst="rect">
            <a:avLst/>
          </a:prstGeom>
          <a:noFill/>
        </p:spPr>
        <p:txBody>
          <a:bodyPr wrap="square" lIns="36576" tIns="18288" rIns="36576">
            <a:spAutoFit/>
          </a:bodyPr>
          <a:lstStyle/>
          <a:p>
            <a:pPr>
              <a:spcAft>
                <a:spcPts val="500"/>
              </a:spcAft>
              <a:defRPr sz="1400" b="1">
                <a:solidFill>
                  <a:srgbClr val="FFFFFF"/>
                </a:solidFill>
                <a:latin typeface="Aptos"/>
              </a:defRPr>
            </a:pPr>
            <a:r>
              <a:t>TEST</a:t>
            </a:r>
          </a:p>
        </p:txBody>
      </p:sp>
      <p:sp>
        <p:nvSpPr>
          <p:cNvPr id="15" name="TextBox 14"/>
          <p:cNvSpPr txBox="1"/>
          <p:nvPr/>
        </p:nvSpPr>
        <p:spPr>
          <a:xfrm>
            <a:off x="5010912" y="2304288"/>
            <a:ext cx="219456" cy="365760"/>
          </a:xfrm>
          <a:prstGeom prst="rect">
            <a:avLst/>
          </a:prstGeom>
          <a:noFill/>
        </p:spPr>
        <p:txBody>
          <a:bodyPr wrap="square" lIns="36576" tIns="18288" rIns="36576">
            <a:spAutoFit/>
          </a:bodyPr>
          <a:lstStyle/>
          <a:p>
            <a:pPr>
              <a:spcAft>
                <a:spcPts val="500"/>
              </a:spcAft>
              <a:defRPr sz="2000" b="1">
                <a:solidFill>
                  <a:srgbClr val="26B1BE"/>
                </a:solidFill>
                <a:latin typeface="Aptos"/>
              </a:defRPr>
            </a:pPr>
            <a:r>
              <a:t>→</a:t>
            </a:r>
          </a:p>
        </p:txBody>
      </p:sp>
      <p:sp>
        <p:nvSpPr>
          <p:cNvPr id="16" name="Rounded Rectangle 15"/>
          <p:cNvSpPr/>
          <p:nvPr/>
        </p:nvSpPr>
        <p:spPr>
          <a:xfrm>
            <a:off x="5212080" y="1993392"/>
            <a:ext cx="2157984" cy="969264"/>
          </a:xfrm>
          <a:prstGeom prst="roundRect">
            <a:avLst/>
          </a:prstGeom>
          <a:solidFill>
            <a:srgbClr val="23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30952" y="2103120"/>
            <a:ext cx="457200" cy="320040"/>
          </a:xfrm>
          <a:prstGeom prst="rect">
            <a:avLst/>
          </a:prstGeom>
          <a:noFill/>
        </p:spPr>
        <p:txBody>
          <a:bodyPr wrap="square" lIns="36576" tIns="18288" rIns="36576">
            <a:spAutoFit/>
          </a:bodyPr>
          <a:lstStyle/>
          <a:p>
            <a:pPr>
              <a:spcAft>
                <a:spcPts val="500"/>
              </a:spcAft>
              <a:defRPr sz="1400" b="1">
                <a:solidFill>
                  <a:srgbClr val="F6BD52"/>
                </a:solidFill>
                <a:latin typeface="Aptos"/>
              </a:defRPr>
            </a:pPr>
            <a:r>
              <a:t>03</a:t>
            </a:r>
          </a:p>
        </p:txBody>
      </p:sp>
      <p:sp>
        <p:nvSpPr>
          <p:cNvPr id="18" name="TextBox 17"/>
          <p:cNvSpPr txBox="1"/>
          <p:nvPr/>
        </p:nvSpPr>
        <p:spPr>
          <a:xfrm>
            <a:off x="5349240" y="2505456"/>
            <a:ext cx="1901952" cy="283464"/>
          </a:xfrm>
          <a:prstGeom prst="rect">
            <a:avLst/>
          </a:prstGeom>
          <a:noFill/>
        </p:spPr>
        <p:txBody>
          <a:bodyPr wrap="square" lIns="36576" tIns="18288" rIns="36576">
            <a:spAutoFit/>
          </a:bodyPr>
          <a:lstStyle/>
          <a:p>
            <a:pPr>
              <a:spcAft>
                <a:spcPts val="500"/>
              </a:spcAft>
              <a:defRPr sz="1400" b="1">
                <a:solidFill>
                  <a:srgbClr val="FFFFFF"/>
                </a:solidFill>
                <a:latin typeface="Aptos"/>
              </a:defRPr>
            </a:pPr>
            <a:r>
              <a:t>BUILD IMAGES</a:t>
            </a:r>
          </a:p>
        </p:txBody>
      </p:sp>
      <p:sp>
        <p:nvSpPr>
          <p:cNvPr id="19" name="TextBox 18"/>
          <p:cNvSpPr txBox="1"/>
          <p:nvPr/>
        </p:nvSpPr>
        <p:spPr>
          <a:xfrm>
            <a:off x="7351775" y="2304288"/>
            <a:ext cx="219456" cy="365760"/>
          </a:xfrm>
          <a:prstGeom prst="rect">
            <a:avLst/>
          </a:prstGeom>
          <a:noFill/>
        </p:spPr>
        <p:txBody>
          <a:bodyPr wrap="square" lIns="36576" tIns="18288" rIns="36576">
            <a:spAutoFit/>
          </a:bodyPr>
          <a:lstStyle/>
          <a:p>
            <a:pPr>
              <a:spcAft>
                <a:spcPts val="500"/>
              </a:spcAft>
              <a:defRPr sz="2000" b="1">
                <a:solidFill>
                  <a:srgbClr val="26B1BE"/>
                </a:solidFill>
                <a:latin typeface="Aptos"/>
              </a:defRPr>
            </a:pPr>
            <a:r>
              <a:t>→</a:t>
            </a:r>
          </a:p>
        </p:txBody>
      </p:sp>
      <p:sp>
        <p:nvSpPr>
          <p:cNvPr id="20" name="Rounded Rectangle 19"/>
          <p:cNvSpPr/>
          <p:nvPr/>
        </p:nvSpPr>
        <p:spPr>
          <a:xfrm>
            <a:off x="7552944" y="1993392"/>
            <a:ext cx="2157984" cy="969264"/>
          </a:xfrm>
          <a:prstGeom prst="roundRect">
            <a:avLst/>
          </a:prstGeom>
          <a:solidFill>
            <a:srgbClr val="23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71816" y="2103120"/>
            <a:ext cx="457200" cy="320040"/>
          </a:xfrm>
          <a:prstGeom prst="rect">
            <a:avLst/>
          </a:prstGeom>
          <a:noFill/>
        </p:spPr>
        <p:txBody>
          <a:bodyPr wrap="square" lIns="36576" tIns="18288" rIns="36576">
            <a:spAutoFit/>
          </a:bodyPr>
          <a:lstStyle/>
          <a:p>
            <a:pPr>
              <a:spcAft>
                <a:spcPts val="500"/>
              </a:spcAft>
              <a:defRPr sz="1400" b="1">
                <a:solidFill>
                  <a:srgbClr val="F6BD52"/>
                </a:solidFill>
                <a:latin typeface="Aptos"/>
              </a:defRPr>
            </a:pPr>
            <a:r>
              <a:t>04</a:t>
            </a:r>
          </a:p>
        </p:txBody>
      </p:sp>
      <p:sp>
        <p:nvSpPr>
          <p:cNvPr id="22" name="TextBox 21"/>
          <p:cNvSpPr txBox="1"/>
          <p:nvPr/>
        </p:nvSpPr>
        <p:spPr>
          <a:xfrm>
            <a:off x="7690104" y="2505456"/>
            <a:ext cx="1901952" cy="283464"/>
          </a:xfrm>
          <a:prstGeom prst="rect">
            <a:avLst/>
          </a:prstGeom>
          <a:noFill/>
        </p:spPr>
        <p:txBody>
          <a:bodyPr wrap="square" lIns="36576" tIns="18288" rIns="36576">
            <a:spAutoFit/>
          </a:bodyPr>
          <a:lstStyle/>
          <a:p>
            <a:pPr>
              <a:spcAft>
                <a:spcPts val="500"/>
              </a:spcAft>
              <a:defRPr sz="1400" b="1">
                <a:solidFill>
                  <a:srgbClr val="FFFFFF"/>
                </a:solidFill>
                <a:latin typeface="Aptos"/>
              </a:defRPr>
            </a:pPr>
            <a:r>
              <a:t>DEPLOY</a:t>
            </a:r>
          </a:p>
        </p:txBody>
      </p:sp>
      <p:sp>
        <p:nvSpPr>
          <p:cNvPr id="23" name="TextBox 22"/>
          <p:cNvSpPr txBox="1"/>
          <p:nvPr/>
        </p:nvSpPr>
        <p:spPr>
          <a:xfrm>
            <a:off x="9692640" y="2304288"/>
            <a:ext cx="219456" cy="365760"/>
          </a:xfrm>
          <a:prstGeom prst="rect">
            <a:avLst/>
          </a:prstGeom>
          <a:noFill/>
        </p:spPr>
        <p:txBody>
          <a:bodyPr wrap="square" lIns="36576" tIns="18288" rIns="36576">
            <a:spAutoFit/>
          </a:bodyPr>
          <a:lstStyle/>
          <a:p>
            <a:pPr>
              <a:spcAft>
                <a:spcPts val="500"/>
              </a:spcAft>
              <a:defRPr sz="2000" b="1">
                <a:solidFill>
                  <a:srgbClr val="26B1BE"/>
                </a:solidFill>
                <a:latin typeface="Aptos"/>
              </a:defRPr>
            </a:pPr>
            <a:r>
              <a:t>→</a:t>
            </a:r>
          </a:p>
        </p:txBody>
      </p:sp>
      <p:sp>
        <p:nvSpPr>
          <p:cNvPr id="24" name="Rounded Rectangle 23"/>
          <p:cNvSpPr/>
          <p:nvPr/>
        </p:nvSpPr>
        <p:spPr>
          <a:xfrm>
            <a:off x="9893808" y="1993392"/>
            <a:ext cx="2157984" cy="969264"/>
          </a:xfrm>
          <a:prstGeom prst="roundRect">
            <a:avLst/>
          </a:prstGeom>
          <a:solidFill>
            <a:srgbClr val="23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12680" y="2103120"/>
            <a:ext cx="457200" cy="320040"/>
          </a:xfrm>
          <a:prstGeom prst="rect">
            <a:avLst/>
          </a:prstGeom>
          <a:noFill/>
        </p:spPr>
        <p:txBody>
          <a:bodyPr wrap="square" lIns="36576" tIns="18288" rIns="36576">
            <a:spAutoFit/>
          </a:bodyPr>
          <a:lstStyle/>
          <a:p>
            <a:pPr>
              <a:spcAft>
                <a:spcPts val="500"/>
              </a:spcAft>
              <a:defRPr sz="1400" b="1">
                <a:solidFill>
                  <a:srgbClr val="F6BD52"/>
                </a:solidFill>
                <a:latin typeface="Aptos"/>
              </a:defRPr>
            </a:pPr>
            <a:r>
              <a:t>05</a:t>
            </a:r>
          </a:p>
        </p:txBody>
      </p:sp>
      <p:sp>
        <p:nvSpPr>
          <p:cNvPr id="26" name="TextBox 25"/>
          <p:cNvSpPr txBox="1"/>
          <p:nvPr/>
        </p:nvSpPr>
        <p:spPr>
          <a:xfrm>
            <a:off x="10030968" y="2505456"/>
            <a:ext cx="1901952" cy="283464"/>
          </a:xfrm>
          <a:prstGeom prst="rect">
            <a:avLst/>
          </a:prstGeom>
          <a:noFill/>
        </p:spPr>
        <p:txBody>
          <a:bodyPr wrap="square" lIns="36576" tIns="18288" rIns="36576">
            <a:spAutoFit/>
          </a:bodyPr>
          <a:lstStyle/>
          <a:p>
            <a:pPr>
              <a:spcAft>
                <a:spcPts val="500"/>
              </a:spcAft>
              <a:defRPr sz="1400" b="1">
                <a:solidFill>
                  <a:srgbClr val="FFFFFF"/>
                </a:solidFill>
                <a:latin typeface="Aptos"/>
              </a:defRPr>
            </a:pPr>
            <a:r>
              <a:t>SMOKE TEST</a:t>
            </a:r>
          </a:p>
        </p:txBody>
      </p:sp>
      <p:sp>
        <p:nvSpPr>
          <p:cNvPr id="27" name="Rounded Rectangle 26"/>
          <p:cNvSpPr/>
          <p:nvPr/>
        </p:nvSpPr>
        <p:spPr>
          <a:xfrm>
            <a:off x="530352" y="3319272"/>
            <a:ext cx="5278494" cy="2414016"/>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8952" y="3520440"/>
            <a:ext cx="6217920" cy="387798"/>
          </a:xfrm>
          <a:prstGeom prst="rect">
            <a:avLst/>
          </a:prstGeom>
          <a:noFill/>
        </p:spPr>
        <p:txBody>
          <a:bodyPr wrap="square" lIns="36576" tIns="18288" rIns="36576">
            <a:spAutoFit/>
          </a:bodyPr>
          <a:lstStyle/>
          <a:p>
            <a:pPr>
              <a:spcAft>
                <a:spcPts val="500"/>
              </a:spcAft>
              <a:defRPr sz="2100" b="1">
                <a:solidFill>
                  <a:srgbClr val="FFFFFF"/>
                </a:solidFill>
                <a:latin typeface="Aptos"/>
              </a:defRPr>
            </a:pPr>
            <a:r>
              <a:rPr lang="en-US" dirty="0"/>
              <a:t>Test Coverage: 40 total tests</a:t>
            </a:r>
            <a:endParaRPr dirty="0"/>
          </a:p>
        </p:txBody>
      </p:sp>
      <p:sp>
        <p:nvSpPr>
          <p:cNvPr id="29" name="TextBox 28"/>
          <p:cNvSpPr txBox="1"/>
          <p:nvPr/>
        </p:nvSpPr>
        <p:spPr>
          <a:xfrm>
            <a:off x="758952" y="4050791"/>
            <a:ext cx="6492240" cy="1954894"/>
          </a:xfrm>
          <a:prstGeom prst="rect">
            <a:avLst/>
          </a:prstGeom>
          <a:noFill/>
        </p:spPr>
        <p:txBody>
          <a:bodyPr wrap="square" lIns="36576" tIns="18288" rIns="36576">
            <a:spAutoFit/>
          </a:bodyPr>
          <a:lstStyle/>
          <a:p>
            <a:pPr marL="285750" indent="-285750">
              <a:spcAft>
                <a:spcPts val="500"/>
              </a:spcAft>
              <a:buFont typeface="Arial" panose="020B0604020202020204" pitchFamily="34" charset="0"/>
              <a:buChar char="•"/>
              <a:defRPr sz="1700" b="0">
                <a:solidFill>
                  <a:srgbClr val="E7F1F8"/>
                </a:solidFill>
                <a:latin typeface="Aptos"/>
              </a:defRPr>
            </a:pPr>
            <a:r>
              <a:rPr lang="en-US" dirty="0"/>
              <a:t>Auth: Token and Passwords</a:t>
            </a:r>
          </a:p>
          <a:p>
            <a:pPr marL="285750" indent="-285750">
              <a:spcAft>
                <a:spcPts val="500"/>
              </a:spcAft>
              <a:buFont typeface="Arial" panose="020B0604020202020204" pitchFamily="34" charset="0"/>
              <a:buChar char="•"/>
              <a:defRPr sz="1700" b="0">
                <a:solidFill>
                  <a:srgbClr val="E7F1F8"/>
                </a:solidFill>
                <a:latin typeface="Aptos"/>
              </a:defRPr>
            </a:pPr>
            <a:r>
              <a:rPr lang="en-US" dirty="0"/>
              <a:t>Scholarship: Eligibility Checks</a:t>
            </a:r>
          </a:p>
          <a:p>
            <a:pPr marL="285750" indent="-285750">
              <a:spcAft>
                <a:spcPts val="500"/>
              </a:spcAft>
              <a:buFont typeface="Arial" panose="020B0604020202020204" pitchFamily="34" charset="0"/>
              <a:buChar char="•"/>
              <a:defRPr sz="1700" b="0">
                <a:solidFill>
                  <a:srgbClr val="E7F1F8"/>
                </a:solidFill>
                <a:latin typeface="Aptos"/>
              </a:defRPr>
            </a:pPr>
            <a:r>
              <a:rPr lang="en-US" dirty="0"/>
              <a:t>Application: Status Transitions</a:t>
            </a:r>
          </a:p>
          <a:p>
            <a:pPr marL="285750" indent="-285750">
              <a:spcAft>
                <a:spcPts val="500"/>
              </a:spcAft>
              <a:buFont typeface="Arial" panose="020B0604020202020204" pitchFamily="34" charset="0"/>
              <a:buChar char="•"/>
              <a:defRPr sz="1700" b="0">
                <a:solidFill>
                  <a:srgbClr val="E7F1F8"/>
                </a:solidFill>
                <a:latin typeface="Aptos"/>
              </a:defRPr>
            </a:pPr>
            <a:r>
              <a:rPr lang="en-US" dirty="0"/>
              <a:t>Upload: File signatures and the 2 MB Limit</a:t>
            </a:r>
          </a:p>
          <a:p>
            <a:pPr marL="285750" indent="-285750">
              <a:spcAft>
                <a:spcPts val="500"/>
              </a:spcAft>
              <a:buFont typeface="Arial" panose="020B0604020202020204" pitchFamily="34" charset="0"/>
              <a:buChar char="•"/>
              <a:defRPr sz="1700" b="0">
                <a:solidFill>
                  <a:srgbClr val="E7F1F8"/>
                </a:solidFill>
                <a:latin typeface="Aptos"/>
              </a:defRPr>
            </a:pPr>
            <a:r>
              <a:rPr lang="en-US" dirty="0"/>
              <a:t>Worker: Job Validation</a:t>
            </a:r>
          </a:p>
          <a:p>
            <a:pPr marL="285750" indent="-285750">
              <a:spcAft>
                <a:spcPts val="500"/>
              </a:spcAft>
              <a:buFont typeface="Arial" panose="020B0604020202020204" pitchFamily="34" charset="0"/>
              <a:buChar char="•"/>
              <a:defRPr sz="1700" b="0">
                <a:solidFill>
                  <a:srgbClr val="E7F1F8"/>
                </a:solidFill>
                <a:latin typeface="Aptos"/>
              </a:defRPr>
            </a:pPr>
            <a:endParaRPr dirty="0"/>
          </a:p>
        </p:txBody>
      </p:sp>
      <p:sp>
        <p:nvSpPr>
          <p:cNvPr id="30" name="Rounded Rectangle 29"/>
          <p:cNvSpPr/>
          <p:nvPr/>
        </p:nvSpPr>
        <p:spPr>
          <a:xfrm>
            <a:off x="6448926" y="3319272"/>
            <a:ext cx="5191385" cy="2414016"/>
          </a:xfrm>
          <a:prstGeom prst="roundRect">
            <a:avLst/>
          </a:prstGeom>
          <a:solidFill>
            <a:srgbClr val="183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73516" y="3520440"/>
            <a:ext cx="3383280" cy="387798"/>
          </a:xfrm>
          <a:prstGeom prst="rect">
            <a:avLst/>
          </a:prstGeom>
          <a:noFill/>
        </p:spPr>
        <p:txBody>
          <a:bodyPr wrap="square" lIns="36576" tIns="18288" rIns="36576">
            <a:spAutoFit/>
          </a:bodyPr>
          <a:lstStyle/>
          <a:p>
            <a:pPr>
              <a:spcAft>
                <a:spcPts val="500"/>
              </a:spcAft>
              <a:defRPr sz="2100" b="1">
                <a:solidFill>
                  <a:srgbClr val="F6BD52"/>
                </a:solidFill>
                <a:latin typeface="Aptos"/>
              </a:defRPr>
            </a:pPr>
            <a:r>
              <a:rPr lang="en-US" dirty="0"/>
              <a:t>Trigger and Safety</a:t>
            </a:r>
            <a:endParaRPr dirty="0"/>
          </a:p>
        </p:txBody>
      </p:sp>
      <p:sp>
        <p:nvSpPr>
          <p:cNvPr id="32" name="TextBox 31"/>
          <p:cNvSpPr txBox="1"/>
          <p:nvPr/>
        </p:nvSpPr>
        <p:spPr>
          <a:xfrm>
            <a:off x="6673516" y="4023360"/>
            <a:ext cx="4692476" cy="1670201"/>
          </a:xfrm>
          <a:prstGeom prst="rect">
            <a:avLst/>
          </a:prstGeom>
          <a:noFill/>
        </p:spPr>
        <p:txBody>
          <a:bodyPr wrap="square" lIns="36576" tIns="18288" rIns="36576">
            <a:spAutoFit/>
          </a:bodyPr>
          <a:lstStyle/>
          <a:p>
            <a:pPr marL="285750" indent="-285750">
              <a:spcAft>
                <a:spcPts val="500"/>
              </a:spcAft>
              <a:buFont typeface="Arial" panose="020B0604020202020204" pitchFamily="34" charset="0"/>
              <a:buChar char="•"/>
              <a:defRPr sz="1600" b="0">
                <a:solidFill>
                  <a:srgbClr val="E7F1F8"/>
                </a:solidFill>
                <a:latin typeface="Aptos"/>
              </a:defRPr>
            </a:pPr>
            <a:r>
              <a:rPr lang="en-US" dirty="0"/>
              <a:t>Poll SCM checks the repository every minute.</a:t>
            </a:r>
          </a:p>
          <a:p>
            <a:pPr marL="285750" indent="-285750">
              <a:spcAft>
                <a:spcPts val="500"/>
              </a:spcAft>
              <a:buFont typeface="Arial" panose="020B0604020202020204" pitchFamily="34" charset="0"/>
              <a:buChar char="•"/>
              <a:defRPr sz="1600" b="0">
                <a:solidFill>
                  <a:srgbClr val="E7F1F8"/>
                </a:solidFill>
                <a:latin typeface="Aptos"/>
              </a:defRPr>
            </a:pPr>
            <a:r>
              <a:rPr lang="en-US" dirty="0"/>
              <a:t>A failed test stops the pipeline before Build Images and Deploy, so the running version stays in place.</a:t>
            </a:r>
          </a:p>
          <a:p>
            <a:pPr marL="285750" indent="-285750">
              <a:spcAft>
                <a:spcPts val="500"/>
              </a:spcAft>
              <a:buFont typeface="Arial" panose="020B0604020202020204" pitchFamily="34" charset="0"/>
              <a:buChar char="•"/>
              <a:defRPr sz="1600" b="0">
                <a:solidFill>
                  <a:srgbClr val="E7F1F8"/>
                </a:solidFill>
                <a:latin typeface="Aptos"/>
              </a:defRPr>
            </a:pPr>
            <a:r>
              <a:rPr lang="en-US" dirty="0"/>
              <a:t>Images are tagged with the build number, which makes rollback possible.</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741</Words>
  <Application>Microsoft Office PowerPoint</Application>
  <PresentationFormat>Widescreen</PresentationFormat>
  <Paragraphs>67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Bea Mei P. Cabral</cp:lastModifiedBy>
  <cp:revision>2</cp:revision>
  <dcterms:created xsi:type="dcterms:W3CDTF">2013-01-27T09:14:16Z</dcterms:created>
  <dcterms:modified xsi:type="dcterms:W3CDTF">2026-10-16T14:33:21Z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813f4b-519a-4481-a498-85770f517757_Enabled">
    <vt:lpwstr>true</vt:lpwstr>
  </property>
  <property fmtid="{D5CDD505-2E9C-101B-9397-08002B2CF9AE}" pid="3" name="MSIP_Label_8a813f4b-519a-4481-a498-85770f517757_SetDate">
    <vt:lpwstr>2026-10-16T14:33:17Z</vt:lpwstr>
  </property>
  <property fmtid="{D5CDD505-2E9C-101B-9397-08002B2CF9AE}" pid="4" name="MSIP_Label_8a813f4b-519a-4481-a498-85770f517757_Method">
    <vt:lpwstr>Standard</vt:lpwstr>
  </property>
  <property fmtid="{D5CDD505-2E9C-101B-9397-08002B2CF9AE}" pid="5" name="MSIP_Label_8a813f4b-519a-4481-a498-85770f517757_Name">
    <vt:lpwstr>Anyone (unrestricted)</vt:lpwstr>
  </property>
  <property fmtid="{D5CDD505-2E9C-101B-9397-08002B2CF9AE}" pid="6" name="MSIP_Label_8a813f4b-519a-4481-a498-85770f517757_SiteId">
    <vt:lpwstr>1d981f77-3ca3-46ae-b0d4-e8044e6c7f84</vt:lpwstr>
  </property>
  <property fmtid="{D5CDD505-2E9C-101B-9397-08002B2CF9AE}" pid="7" name="MSIP_Label_8a813f4b-519a-4481-a498-85770f517757_ActionId">
    <vt:lpwstr>28e01fa3-cab5-44d5-a1a4-de7faadda5f8</vt:lpwstr>
  </property>
  <property fmtid="{D5CDD505-2E9C-101B-9397-08002B2CF9AE}" pid="8" name="MSIP_Label_8a813f4b-519a-4481-a498-85770f517757_ContentBits">
    <vt:lpwstr>0</vt:lpwstr>
  </property>
  <property fmtid="{D5CDD505-2E9C-101B-9397-08002B2CF9AE}" pid="9" name="MSIP_Label_8a813f4b-519a-4481-a498-85770f517757_Tag">
    <vt:lpwstr>10, 3, 0, 1</vt:lpwstr>
  </property>
</Properties>
</file>